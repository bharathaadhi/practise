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6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E390C-A70B-207C-7C73-7278570F1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69DC4-EA60-CF19-F637-F5EEEE1AC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C8390-A94F-E83A-BC75-2DBAD2352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9685-BDB7-4B2A-B3CD-ED06C8C7743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45D61-9173-AE69-2BD2-9BEC8FE96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60AE5-F77A-441D-C1C3-C71ED9C08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6D15-17FF-4AE5-9507-CCB7EF9BB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92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B56A-BC9A-3E85-15CA-17CFD8365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D4E5A-679A-43B7-BDEC-8EC2C3B3C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AE118-C20C-3294-6167-4880A25D3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9685-BDB7-4B2A-B3CD-ED06C8C7743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91DC3-2193-0031-E656-4023F47D7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4EB22-CC7E-B488-76EA-CB65E343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6D15-17FF-4AE5-9507-CCB7EF9BB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90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6F82B-2ADD-4BC0-41F6-BB2BE104F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125EB-4A20-5372-3A26-94D7ED99D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E615-CE6D-3CE1-A1E1-36FFBD211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9685-BDB7-4B2A-B3CD-ED06C8C7743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00432-3BCC-A454-9C86-67FA2570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8E466-5D97-F54B-A409-C88B47A37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6D15-17FF-4AE5-9507-CCB7EF9BB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10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88FA1-0A36-EC5E-474C-F533A8E11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A775D-FC44-8B6F-F82A-3861F3D78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EB954-10F9-3891-FDDB-D0687D3C8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75E63-FBF9-086B-AA3B-4F11D457E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9685-BDB7-4B2A-B3CD-ED06C8C7743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58B62-CC59-C123-45A9-FC7ADE4F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85729-EAAD-AE42-222A-6DD824F92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6D15-17FF-4AE5-9507-CCB7EF9BB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87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534E8-FB10-A218-9087-B34D80AF0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D542F-B095-67A8-AE53-ED0B1D8F9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7AD4D-EC6E-4218-C43C-F1185D677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5CAD2F-886E-A847-EEB3-C303507DC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F764D4-CB0D-E1D7-AF5C-0860F82EA8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C0478B-1806-D857-5A8B-452732E27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9685-BDB7-4B2A-B3CD-ED06C8C7743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4828C8-3867-8D97-D2F1-66BFBEFBC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75580-4F35-0176-B091-655F6AA16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6D15-17FF-4AE5-9507-CCB7EF9BB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67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2C70C-252B-18E6-8FB3-5EA808F72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BEA89-D256-FD51-8731-13F419DA2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9685-BDB7-4B2A-B3CD-ED06C8C7743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6F735-C010-1E76-0ABE-545D61D76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9F4AD-8F00-90EE-F807-A4C6A1EB1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6D15-17FF-4AE5-9507-CCB7EF9BB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7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CCB9DC-53AE-C302-EBCA-EB2DCBB58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9685-BDB7-4B2A-B3CD-ED06C8C7743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786393-3610-14AC-F341-5136C6C53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AB576-84A8-FAD4-021B-8AD2A4112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6D15-17FF-4AE5-9507-CCB7EF9BB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95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E6645-AFF8-C3C0-C1FC-39E07B306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8C282-368B-103E-0462-607F30CF0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E1BAE7-01F7-360B-6CFC-0E70403AE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3E5C1-F7EE-8081-875C-660A882D2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9685-BDB7-4B2A-B3CD-ED06C8C7743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3B247-80A7-78DC-3D99-084154D94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6E201-6655-FA64-DB89-7DD84B178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6D15-17FF-4AE5-9507-CCB7EF9BB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9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84A98-2A14-CC68-FDA5-129C627A5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BC31A2-9CED-6DF6-333E-F2577DBD6F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0BC4B-86B4-C399-1CCA-A879A9F6D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7E9F9-399D-CC44-BC57-DA07EC1BB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9685-BDB7-4B2A-B3CD-ED06C8C7743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7A6BB-5DDA-FE01-2843-39C911D5A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CFAC8-34D3-CC4B-07A5-327BA9E1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6D15-17FF-4AE5-9507-CCB7EF9BB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0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AF693-E12A-E1DC-254A-C8A3E991C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B83BF-5498-B59A-750B-741055577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3C653-4B07-A0E6-6C1C-9A5015028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9685-BDB7-4B2A-B3CD-ED06C8C7743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099B8-49BD-11D5-C130-F989789B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AF6B4-2999-A666-F925-589D0557F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6D15-17FF-4AE5-9507-CCB7EF9BB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48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9FBA1C-15A7-1AA1-86F6-86FA75E11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5A2BE-E839-F05C-CD32-869369AA2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1E37C-1805-427B-2AD8-5008D04C9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E9685-BDB7-4B2A-B3CD-ED06C8C7743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31BCE-EDAE-B5AA-07E0-D37D11195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F3EEA-95CA-D4E9-F9A0-EB3566B78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86D15-17FF-4AE5-9507-CCB7EF9BB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557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C8C11C-1F5A-8687-A799-14BC4C086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96142-A9C7-E204-311C-95A5650B8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BF76F-7D6A-C742-51B1-9BA09F5CE7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E9685-BDB7-4B2A-B3CD-ED06C8C7743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EAA4F-5D54-BB15-92E0-7EAD932A1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2AB5C-03FF-7640-7BE0-7D72755797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86D15-17FF-4AE5-9507-CCB7EF9BB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80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3EFD9-CF24-15C8-D2AE-35FD5241A5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Behavioral Design Patterns</a:t>
            </a:r>
            <a:br>
              <a:rPr lang="en-US" b="1" dirty="0"/>
            </a:br>
            <a:r>
              <a:rPr lang="en-US" b="1" dirty="0"/>
              <a:t>Strategy Pattern &amp; Observer Pattern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F90435-A864-96DB-51A5-243CA1C06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4770" y="4602702"/>
            <a:ext cx="9144000" cy="1655762"/>
          </a:xfrm>
        </p:spPr>
        <p:txBody>
          <a:bodyPr/>
          <a:lstStyle/>
          <a:p>
            <a:r>
              <a:rPr lang="en-US" dirty="0"/>
              <a:t>NAME: N Bharath Aadhi</a:t>
            </a:r>
          </a:p>
          <a:p>
            <a:r>
              <a:rPr lang="en-US" dirty="0"/>
              <a:t>BATCH: 2355</a:t>
            </a:r>
          </a:p>
        </p:txBody>
      </p:sp>
    </p:spTree>
    <p:extLst>
      <p:ext uri="{BB962C8B-B14F-4D97-AF65-F5344CB8AC3E}">
        <p14:creationId xmlns:p14="http://schemas.microsoft.com/office/powerpoint/2010/main" val="1651810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A5893-A29F-046E-8FD5-82D03F3ED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		Behavioral Patterns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CEC6D-6217-D6C8-77B3-D212DA686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237"/>
            <a:ext cx="10515600" cy="504363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Behavioral patterns define how objects communicate and assign responsibilities to achieve flexible interaction.</a:t>
            </a:r>
          </a:p>
          <a:p>
            <a:pPr marL="0" indent="0">
              <a:buNone/>
            </a:pPr>
            <a:r>
              <a:rPr lang="en-US" b="1" dirty="0"/>
              <a:t>Key Points:</a:t>
            </a:r>
            <a:br>
              <a:rPr lang="en-US" dirty="0"/>
            </a:br>
            <a:r>
              <a:rPr lang="en-US" dirty="0"/>
              <a:t>• Focuses on communication, not structure</a:t>
            </a:r>
            <a:br>
              <a:rPr lang="en-US" dirty="0"/>
            </a:br>
            <a:r>
              <a:rPr lang="en-US" dirty="0"/>
              <a:t>• Improves object collaboration</a:t>
            </a:r>
            <a:br>
              <a:rPr lang="en-US" dirty="0"/>
            </a:br>
            <a:r>
              <a:rPr lang="en-US" dirty="0"/>
              <a:t>• Supports runtime decisions</a:t>
            </a:r>
            <a:br>
              <a:rPr lang="en-US" dirty="0"/>
            </a:br>
            <a:r>
              <a:rPr lang="en-US" dirty="0"/>
              <a:t>• Reduces conditional complexity</a:t>
            </a:r>
          </a:p>
          <a:p>
            <a:pPr marL="0" indent="0">
              <a:buNone/>
            </a:pPr>
            <a:r>
              <a:rPr lang="en-US" b="1" dirty="0"/>
              <a:t>Examples in Java:</a:t>
            </a:r>
            <a:br>
              <a:rPr lang="en-US" dirty="0"/>
            </a:br>
            <a:r>
              <a:rPr lang="en-US" dirty="0"/>
              <a:t>• Strategy</a:t>
            </a:r>
            <a:br>
              <a:rPr lang="en-US" dirty="0"/>
            </a:br>
            <a:r>
              <a:rPr lang="en-US" dirty="0"/>
              <a:t>• Observer</a:t>
            </a:r>
            <a:br>
              <a:rPr lang="en-US" dirty="0"/>
            </a:br>
            <a:r>
              <a:rPr lang="en-US" dirty="0"/>
              <a:t>• Template Method</a:t>
            </a:r>
            <a:br>
              <a:rPr lang="en-US" dirty="0"/>
            </a:br>
            <a:r>
              <a:rPr lang="en-US" dirty="0"/>
              <a:t>• Chain of Responsibility</a:t>
            </a:r>
            <a:br>
              <a:rPr lang="en-US" dirty="0"/>
            </a:br>
            <a:r>
              <a:rPr lang="en-US" dirty="0"/>
              <a:t>• Command</a:t>
            </a:r>
            <a:br>
              <a:rPr lang="en-US" dirty="0"/>
            </a:br>
            <a:r>
              <a:rPr lang="en-US" dirty="0"/>
              <a:t>• State</a:t>
            </a:r>
          </a:p>
        </p:txBody>
      </p:sp>
    </p:spTree>
    <p:extLst>
      <p:ext uri="{BB962C8B-B14F-4D97-AF65-F5344CB8AC3E}">
        <p14:creationId xmlns:p14="http://schemas.microsoft.com/office/powerpoint/2010/main" val="3135573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C5812-5D85-F5A3-DCC0-7F216C0E2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838"/>
            <a:ext cx="10515600" cy="1325563"/>
          </a:xfrm>
        </p:spPr>
        <p:txBody>
          <a:bodyPr/>
          <a:lstStyle/>
          <a:p>
            <a:r>
              <a:rPr lang="en-US" b="1" dirty="0"/>
              <a:t>				Strategy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1D78A-5BE5-5464-DBB3-0D81D8363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4652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Strategy pattern allows selecting a specific algorithm or behavior at runtime without modifying main logic.</a:t>
            </a:r>
          </a:p>
          <a:p>
            <a:pPr marL="0" indent="0">
              <a:buNone/>
            </a:pPr>
            <a:r>
              <a:rPr lang="en-US" b="1" dirty="0"/>
              <a:t>Real-Time Example:</a:t>
            </a:r>
            <a:br>
              <a:rPr lang="en-US" dirty="0"/>
            </a:br>
            <a:r>
              <a:rPr lang="en-US" dirty="0"/>
              <a:t>Payment selection in shopping apps:</a:t>
            </a:r>
            <a:br>
              <a:rPr lang="en-US" dirty="0"/>
            </a:br>
            <a:r>
              <a:rPr lang="en-US" dirty="0"/>
              <a:t>• UPI</a:t>
            </a:r>
            <a:br>
              <a:rPr lang="en-US" dirty="0"/>
            </a:br>
            <a:r>
              <a:rPr lang="en-US" dirty="0"/>
              <a:t>• Card</a:t>
            </a:r>
            <a:br>
              <a:rPr lang="en-US" dirty="0"/>
            </a:br>
            <a:r>
              <a:rPr lang="en-US" dirty="0"/>
              <a:t>• Net Banking</a:t>
            </a:r>
          </a:p>
          <a:p>
            <a:pPr marL="0" indent="0">
              <a:buNone/>
            </a:pPr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• Eliminates long if-else</a:t>
            </a:r>
            <a:br>
              <a:rPr lang="en-US" dirty="0"/>
            </a:br>
            <a:r>
              <a:rPr lang="en-US" dirty="0"/>
              <a:t>• Behavior chosen dynamically</a:t>
            </a:r>
            <a:br>
              <a:rPr lang="en-US" dirty="0"/>
            </a:br>
            <a:r>
              <a:rPr lang="en-US" dirty="0"/>
              <a:t>• Adds new strategies easily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759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362B2-93E9-DA6F-CBC6-B77E7DC08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STRUCTURE &amp;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0EA5D-106B-22BE-3385-B6B740B83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396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Context → Strategy (Interface)</a:t>
            </a:r>
          </a:p>
          <a:p>
            <a:pPr marL="0" indent="0">
              <a:buNone/>
            </a:pPr>
            <a:r>
              <a:rPr lang="en-US" dirty="0"/>
              <a:t>              ↳ Strategy A</a:t>
            </a:r>
          </a:p>
          <a:p>
            <a:pPr marL="0" indent="0">
              <a:buNone/>
            </a:pPr>
            <a:r>
              <a:rPr lang="en-US" dirty="0"/>
              <a:t>              ↳ Strategy 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IMPLEMENTATION:</a:t>
            </a:r>
          </a:p>
          <a:p>
            <a:pPr marL="0" indent="0">
              <a:buNone/>
            </a:pPr>
            <a:r>
              <a:rPr lang="en-US" dirty="0"/>
              <a:t>interface </a:t>
            </a:r>
            <a:r>
              <a:rPr lang="en-US" dirty="0" err="1"/>
              <a:t>PaymentStrategy</a:t>
            </a:r>
            <a:r>
              <a:rPr lang="en-US" dirty="0"/>
              <a:t> { void pay(int amt);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UpiPayment</a:t>
            </a:r>
            <a:r>
              <a:rPr lang="en-US" dirty="0"/>
              <a:t> implements </a:t>
            </a:r>
            <a:r>
              <a:rPr lang="en-US" dirty="0" err="1"/>
              <a:t>PaymentStrategy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void pay(int amt) { </a:t>
            </a:r>
            <a:r>
              <a:rPr lang="en-US" dirty="0" err="1"/>
              <a:t>System.out.println</a:t>
            </a:r>
            <a:r>
              <a:rPr lang="en-US" dirty="0"/>
              <a:t>("Paid by UPI: " + amt);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CardPayment</a:t>
            </a:r>
            <a:r>
              <a:rPr lang="en-US" dirty="0"/>
              <a:t> implements </a:t>
            </a:r>
            <a:r>
              <a:rPr lang="en-US" dirty="0" err="1"/>
              <a:t>PaymentStrategy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void pay(int amt) { </a:t>
            </a:r>
            <a:r>
              <a:rPr lang="en-US" dirty="0" err="1"/>
              <a:t>System.out.println</a:t>
            </a:r>
            <a:r>
              <a:rPr lang="en-US" dirty="0"/>
              <a:t>("Paid by Card: " + amt);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953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1385D-BBBD-8C90-6382-378A8E671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365125"/>
            <a:ext cx="10370389" cy="1325563"/>
          </a:xfrm>
        </p:spPr>
        <p:txBody>
          <a:bodyPr/>
          <a:lstStyle/>
          <a:p>
            <a:r>
              <a:rPr lang="en-US" b="1" dirty="0"/>
              <a:t>			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C77C4-03AA-D330-53F7-2FAEB7C62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class Checkout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PaymentStrategy</a:t>
            </a:r>
            <a:r>
              <a:rPr lang="en-US" dirty="0"/>
              <a:t> strategy;</a:t>
            </a:r>
          </a:p>
          <a:p>
            <a:pPr marL="0" indent="0">
              <a:buNone/>
            </a:pPr>
            <a:r>
              <a:rPr lang="en-US" dirty="0"/>
              <a:t>    Checkout(</a:t>
            </a:r>
            <a:r>
              <a:rPr lang="en-US" dirty="0" err="1"/>
              <a:t>PaymentStrategy</a:t>
            </a:r>
            <a:r>
              <a:rPr lang="en-US" dirty="0"/>
              <a:t> s){</a:t>
            </a:r>
            <a:r>
              <a:rPr lang="en-US" dirty="0" err="1"/>
              <a:t>this.strategy</a:t>
            </a:r>
            <a:r>
              <a:rPr lang="en-US" dirty="0"/>
              <a:t>=s;}</a:t>
            </a:r>
          </a:p>
          <a:p>
            <a:pPr marL="0" indent="0">
              <a:buNone/>
            </a:pPr>
            <a:r>
              <a:rPr lang="en-US" dirty="0"/>
              <a:t>    void process(int amt){</a:t>
            </a:r>
            <a:r>
              <a:rPr lang="en-US" dirty="0" err="1"/>
              <a:t>strategy.pay</a:t>
            </a:r>
            <a:r>
              <a:rPr lang="en-US" dirty="0"/>
              <a:t>(amt);}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new Checkout(new </a:t>
            </a:r>
            <a:r>
              <a:rPr lang="en-US" dirty="0" err="1"/>
              <a:t>UpiPayment</a:t>
            </a:r>
            <a:r>
              <a:rPr lang="en-US" dirty="0"/>
              <a:t>()).process(500);</a:t>
            </a:r>
          </a:p>
          <a:p>
            <a:pPr marL="0" indent="0">
              <a:buNone/>
            </a:pPr>
            <a:r>
              <a:rPr lang="en-US" dirty="0"/>
              <a:t>new Checkout(new </a:t>
            </a:r>
            <a:r>
              <a:rPr lang="en-US" dirty="0" err="1"/>
              <a:t>CardPayment</a:t>
            </a:r>
            <a:r>
              <a:rPr lang="en-US" dirty="0"/>
              <a:t>()).process(1500);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395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812E4-73D2-49CF-91B8-69FAACCE3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WHEN TO USE &amp;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3079-520A-35BB-7CBE-0C1FEE651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Multiple interchangeable behaviors</a:t>
            </a:r>
            <a:br>
              <a:rPr lang="en-US" dirty="0"/>
            </a:br>
            <a:r>
              <a:rPr lang="en-US" dirty="0"/>
              <a:t> Runtime behavior selection</a:t>
            </a:r>
            <a:br>
              <a:rPr lang="en-US" dirty="0"/>
            </a:br>
            <a:r>
              <a:rPr lang="en-US" dirty="0"/>
              <a:t>Avoiding complex conditions</a:t>
            </a:r>
            <a:br>
              <a:rPr lang="en-US" dirty="0"/>
            </a:br>
            <a:r>
              <a:rPr lang="en-US" dirty="0"/>
              <a:t>Algorithms vary independently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Advantages:</a:t>
            </a:r>
            <a:br>
              <a:rPr lang="en-US" dirty="0"/>
            </a:br>
            <a:r>
              <a:rPr lang="en-US" dirty="0"/>
              <a:t>Flexible</a:t>
            </a:r>
            <a:br>
              <a:rPr lang="en-US" dirty="0"/>
            </a:br>
            <a:r>
              <a:rPr lang="en-US" dirty="0"/>
              <a:t>Open for extension</a:t>
            </a:r>
            <a:br>
              <a:rPr lang="en-US" dirty="0"/>
            </a:br>
            <a:r>
              <a:rPr lang="en-US" dirty="0"/>
              <a:t>Reusable behaviors</a:t>
            </a:r>
            <a:br>
              <a:rPr lang="en-US" dirty="0"/>
            </a:br>
            <a:r>
              <a:rPr lang="en-US" dirty="0"/>
              <a:t>Clean code</a:t>
            </a:r>
          </a:p>
        </p:txBody>
      </p:sp>
    </p:spTree>
    <p:extLst>
      <p:ext uri="{BB962C8B-B14F-4D97-AF65-F5344CB8AC3E}">
        <p14:creationId xmlns:p14="http://schemas.microsoft.com/office/powerpoint/2010/main" val="1167330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BCA4D-287A-2EA0-F941-ABE926241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	Observer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40B15-0641-22D2-70D8-79215152C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Observer pattern creates a one-to-many dependency: when one object changes, all dependent objects are notified.</a:t>
            </a:r>
          </a:p>
          <a:p>
            <a:pPr marL="0" indent="0">
              <a:buNone/>
            </a:pPr>
            <a:r>
              <a:rPr lang="en-US" b="1" dirty="0"/>
              <a:t>Real-Time Example:</a:t>
            </a:r>
            <a:br>
              <a:rPr lang="en-US" dirty="0"/>
            </a:br>
            <a:r>
              <a:rPr lang="en-US" dirty="0"/>
              <a:t>YouTube channel &amp; subscribers —</a:t>
            </a:r>
            <a:br>
              <a:rPr lang="en-US" dirty="0"/>
            </a:br>
            <a:r>
              <a:rPr lang="en-US" dirty="0"/>
              <a:t>Channel uploads → Subscribers get notified.</a:t>
            </a:r>
          </a:p>
          <a:p>
            <a:pPr marL="0" indent="0">
              <a:buNone/>
            </a:pPr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• Automatic notifications</a:t>
            </a:r>
            <a:br>
              <a:rPr lang="en-US" dirty="0"/>
            </a:br>
            <a:r>
              <a:rPr lang="en-US" dirty="0"/>
              <a:t>• Loose coupling between systems</a:t>
            </a:r>
            <a:br>
              <a:rPr lang="en-US" dirty="0"/>
            </a:br>
            <a:r>
              <a:rPr lang="en-US" dirty="0"/>
              <a:t>• Event-driven applications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649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35E8-93A3-A667-971F-1FF0F391A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		STRUCTURE &amp;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3CF0E-65DE-2CF0-7873-A33C85E08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996"/>
            <a:ext cx="10515600" cy="519310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Subject → notify() → Observers (many)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IMPLEMENTATION: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interface Subscriber { void update(String msg);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User implements Subscriber {</a:t>
            </a:r>
          </a:p>
          <a:p>
            <a:pPr marL="0" indent="0">
              <a:buNone/>
            </a:pPr>
            <a:r>
              <a:rPr lang="en-US" dirty="0"/>
              <a:t>    String name;</a:t>
            </a:r>
          </a:p>
          <a:p>
            <a:pPr marL="0" indent="0">
              <a:buNone/>
            </a:pPr>
            <a:r>
              <a:rPr lang="en-US" dirty="0"/>
              <a:t>    User(String n){name=n;}</a:t>
            </a:r>
          </a:p>
          <a:p>
            <a:pPr marL="0" indent="0">
              <a:buNone/>
            </a:pPr>
            <a:r>
              <a:rPr lang="en-US" dirty="0"/>
              <a:t>    public void update(String msg){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(name + " received " + msg);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3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C56D7-BC44-2C2B-AD36-E69F6C2A9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			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1D6E7-0DE8-3FE9-BC92-C51089FFD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516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class Channel {</a:t>
            </a:r>
          </a:p>
          <a:p>
            <a:pPr marL="0" indent="0">
              <a:buNone/>
            </a:pPr>
            <a:r>
              <a:rPr lang="en-US" dirty="0"/>
              <a:t>    List&lt;Subscriber&gt; subs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pPr marL="0" indent="0">
              <a:buNone/>
            </a:pPr>
            <a:r>
              <a:rPr lang="en-US" dirty="0"/>
              <a:t>    void subscribe(Subscriber s){</a:t>
            </a:r>
            <a:r>
              <a:rPr lang="en-US" dirty="0" err="1"/>
              <a:t>subs.add</a:t>
            </a:r>
            <a:r>
              <a:rPr lang="en-US" dirty="0"/>
              <a:t>(s);}</a:t>
            </a:r>
          </a:p>
          <a:p>
            <a:pPr marL="0" indent="0">
              <a:buNone/>
            </a:pPr>
            <a:r>
              <a:rPr lang="en-US" dirty="0"/>
              <a:t>    void upload(String v){</a:t>
            </a:r>
          </a:p>
          <a:p>
            <a:pPr marL="0" indent="0">
              <a:buNone/>
            </a:pPr>
            <a:r>
              <a:rPr lang="en-US" dirty="0"/>
              <a:t>        for(Subscriber s:subs) </a:t>
            </a:r>
            <a:r>
              <a:rPr lang="en-US" dirty="0" err="1"/>
              <a:t>s.update</a:t>
            </a:r>
            <a:r>
              <a:rPr lang="en-US" dirty="0"/>
              <a:t>("Video: "+v);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Channel </a:t>
            </a:r>
            <a:r>
              <a:rPr lang="en-US" dirty="0" err="1"/>
              <a:t>ch</a:t>
            </a:r>
            <a:r>
              <a:rPr lang="en-US" dirty="0"/>
              <a:t>=new Channel();</a:t>
            </a:r>
          </a:p>
          <a:p>
            <a:pPr marL="0" indent="0">
              <a:buNone/>
            </a:pPr>
            <a:r>
              <a:rPr lang="en-US" dirty="0" err="1"/>
              <a:t>ch.subscribe</a:t>
            </a:r>
            <a:r>
              <a:rPr lang="en-US" dirty="0"/>
              <a:t>(new User("Bharath"));</a:t>
            </a:r>
          </a:p>
          <a:p>
            <a:pPr marL="0" indent="0">
              <a:buNone/>
            </a:pPr>
            <a:r>
              <a:rPr lang="en-US" dirty="0" err="1"/>
              <a:t>ch.subscribe</a:t>
            </a:r>
            <a:r>
              <a:rPr lang="en-US" dirty="0"/>
              <a:t>(new User("Arun"));</a:t>
            </a:r>
          </a:p>
          <a:p>
            <a:pPr marL="0" indent="0">
              <a:buNone/>
            </a:pPr>
            <a:r>
              <a:rPr lang="en-US" dirty="0" err="1"/>
              <a:t>ch.upload</a:t>
            </a:r>
            <a:r>
              <a:rPr lang="en-US" dirty="0"/>
              <a:t>("Behavioral Patterns Explained");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373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F79F-20FF-DAE8-E2F7-8355384F3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WHEN TO USE &amp;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B477D-003A-29F1-3406-22C3E001F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Notification services</a:t>
            </a:r>
            <a:br>
              <a:rPr lang="en-US" dirty="0"/>
            </a:br>
            <a:r>
              <a:rPr lang="en-US" dirty="0"/>
              <a:t>Stock/market systems</a:t>
            </a:r>
            <a:br>
              <a:rPr lang="en-US" dirty="0"/>
            </a:br>
            <a:r>
              <a:rPr lang="en-US" dirty="0"/>
              <a:t>UI event listeners</a:t>
            </a:r>
            <a:br>
              <a:rPr lang="en-US" dirty="0"/>
            </a:br>
            <a:r>
              <a:rPr lang="en-US" dirty="0"/>
              <a:t>Messaging/platform apps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Advantages:</a:t>
            </a:r>
            <a:br>
              <a:rPr lang="en-US" dirty="0"/>
            </a:br>
            <a:r>
              <a:rPr lang="en-US" dirty="0"/>
              <a:t>Loose coupling</a:t>
            </a:r>
            <a:br>
              <a:rPr lang="en-US" dirty="0"/>
            </a:br>
            <a:r>
              <a:rPr lang="en-US" dirty="0"/>
              <a:t>Automatic updates</a:t>
            </a:r>
            <a:br>
              <a:rPr lang="en-US" dirty="0"/>
            </a:br>
            <a:r>
              <a:rPr lang="en-US" dirty="0"/>
              <a:t>Better event handling</a:t>
            </a:r>
            <a:br>
              <a:rPr lang="en-US" dirty="0"/>
            </a:br>
            <a:r>
              <a:rPr lang="en-US" dirty="0"/>
              <a:t>Easy to extend</a:t>
            </a:r>
          </a:p>
        </p:txBody>
      </p:sp>
    </p:spTree>
    <p:extLst>
      <p:ext uri="{BB962C8B-B14F-4D97-AF65-F5344CB8AC3E}">
        <p14:creationId xmlns:p14="http://schemas.microsoft.com/office/powerpoint/2010/main" val="3351220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3F13-422B-2283-EDB1-3E3D558CD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			</a:t>
            </a:r>
            <a:r>
              <a:rPr lang="en-US" b="1" dirty="0"/>
              <a:t>STRATEGY VS OBSERVER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CECF080D-7AC8-2389-380B-1109720607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2725162"/>
              </p:ext>
            </p:extLst>
          </p:nvPr>
        </p:nvGraphicFramePr>
        <p:xfrm>
          <a:off x="534839" y="1325563"/>
          <a:ext cx="11231592" cy="4971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3864">
                  <a:extLst>
                    <a:ext uri="{9D8B030D-6E8A-4147-A177-3AD203B41FA5}">
                      <a16:colId xmlns:a16="http://schemas.microsoft.com/office/drawing/2014/main" val="1696034360"/>
                    </a:ext>
                  </a:extLst>
                </a:gridCol>
                <a:gridCol w="3743864">
                  <a:extLst>
                    <a:ext uri="{9D8B030D-6E8A-4147-A177-3AD203B41FA5}">
                      <a16:colId xmlns:a16="http://schemas.microsoft.com/office/drawing/2014/main" val="4273491758"/>
                    </a:ext>
                  </a:extLst>
                </a:gridCol>
                <a:gridCol w="3743864">
                  <a:extLst>
                    <a:ext uri="{9D8B030D-6E8A-4147-A177-3AD203B41FA5}">
                      <a16:colId xmlns:a16="http://schemas.microsoft.com/office/drawing/2014/main" val="792592292"/>
                    </a:ext>
                  </a:extLst>
                </a:gridCol>
              </a:tblGrid>
              <a:tr h="819139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67057"/>
                  </a:ext>
                </a:extLst>
              </a:tr>
              <a:tr h="830516">
                <a:tc>
                  <a:txBody>
                    <a:bodyPr/>
                    <a:lstStyle/>
                    <a:p>
                      <a:r>
                        <a:rPr lang="en-US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Behavior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Notification mechanism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418428"/>
                  </a:ext>
                </a:extLst>
              </a:tr>
              <a:tr h="830516">
                <a:tc>
                  <a:txBody>
                    <a:bodyPr/>
                    <a:lstStyle/>
                    <a:p>
                      <a:r>
                        <a:rPr lang="en-US" dirty="0"/>
                        <a:t>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One-to-one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One-to-Many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778104"/>
                  </a:ext>
                </a:extLst>
              </a:tr>
              <a:tr h="830516">
                <a:tc>
                  <a:txBody>
                    <a:bodyPr/>
                    <a:lstStyle/>
                    <a:p>
                      <a:r>
                        <a:rPr lang="en-US" dirty="0"/>
                        <a:t>Change at 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003688"/>
                  </a:ext>
                </a:extLst>
              </a:tr>
              <a:tr h="830516">
                <a:tc>
                  <a:txBody>
                    <a:bodyPr/>
                    <a:lstStyle/>
                    <a:p>
                      <a:r>
                        <a:rPr lang="en-US" dirty="0"/>
                        <a:t>Real 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YouTube Notifications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579836"/>
                  </a:ext>
                </a:extLst>
              </a:tr>
              <a:tr h="830516">
                <a:tc>
                  <a:txBody>
                    <a:bodyPr/>
                    <a:lstStyle/>
                    <a:p>
                      <a:r>
                        <a:rPr lang="en-US" dirty="0"/>
                        <a:t>Main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Replace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React to events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93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683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488F-FAB8-5005-3A10-92F355B3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Common Benefits of Behavioral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E1304-9211-EF11-E0D6-D08A68158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 collaboration between objects</a:t>
            </a:r>
          </a:p>
          <a:p>
            <a:r>
              <a:rPr lang="en-US" dirty="0"/>
              <a:t>Reduce conditional complexity</a:t>
            </a:r>
          </a:p>
          <a:p>
            <a:r>
              <a:rPr lang="en-US" dirty="0"/>
              <a:t>Enhance flexibility and extension</a:t>
            </a:r>
          </a:p>
          <a:p>
            <a:r>
              <a:rPr lang="en-US" dirty="0"/>
              <a:t>Promote reusability and clean design</a:t>
            </a:r>
          </a:p>
          <a:p>
            <a:r>
              <a:rPr lang="en-US" dirty="0"/>
              <a:t>Support event-driven systems</a:t>
            </a:r>
          </a:p>
          <a:p>
            <a:r>
              <a:rPr lang="en-US" dirty="0"/>
              <a:t>Make code maintainable over time</a:t>
            </a:r>
          </a:p>
        </p:txBody>
      </p:sp>
    </p:spTree>
    <p:extLst>
      <p:ext uri="{BB962C8B-B14F-4D97-AF65-F5344CB8AC3E}">
        <p14:creationId xmlns:p14="http://schemas.microsoft.com/office/powerpoint/2010/main" val="1100158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8A308-0149-DAB9-5638-FF4FBF49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	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FA0C0-987F-BF12-994E-F9F413941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Strategy pattern enables choosing behaviors dynamically.</a:t>
            </a:r>
            <a:br>
              <a:rPr lang="en-US" dirty="0"/>
            </a:br>
            <a:r>
              <a:rPr lang="en-US" dirty="0"/>
              <a:t>Observer pattern enables notifying multiple subscribers automatically.</a:t>
            </a:r>
            <a:br>
              <a:rPr lang="en-US" dirty="0"/>
            </a:br>
            <a:r>
              <a:rPr lang="en-US" dirty="0"/>
              <a:t>Both patterns significantly improve software flexibility and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567278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692</Words>
  <Application>Microsoft Office PowerPoint</Application>
  <PresentationFormat>Widescreen</PresentationFormat>
  <Paragraphs>100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Behavioral Design Patterns Strategy Pattern &amp; Observer Pattern</vt:lpstr>
      <vt:lpstr>  Behavioral Patterns Overview</vt:lpstr>
      <vt:lpstr>    Strategy Pattern</vt:lpstr>
      <vt:lpstr>  STRUCTURE &amp; IMPLEMENTATION</vt:lpstr>
      <vt:lpstr>   IMPLEMENTATION</vt:lpstr>
      <vt:lpstr>  WHEN TO USE &amp; ADVANTAGES</vt:lpstr>
      <vt:lpstr>    Observer Pattern</vt:lpstr>
      <vt:lpstr>  STRUCTURE &amp; IMPLEMENTATION</vt:lpstr>
      <vt:lpstr>   IMPLEMENTATION</vt:lpstr>
      <vt:lpstr>  WHEN TO USE &amp; ADVANTAGES</vt:lpstr>
      <vt:lpstr>   STRATEGY VS OBSERVER</vt:lpstr>
      <vt:lpstr> Common Benefits of Behavioral Patterns</vt:lpstr>
      <vt:lpstr>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aadhi sesha kumar</dc:creator>
  <cp:lastModifiedBy>aadhi sesha kumar</cp:lastModifiedBy>
  <cp:revision>1</cp:revision>
  <dcterms:created xsi:type="dcterms:W3CDTF">2026-01-13T06:42:27Z</dcterms:created>
  <dcterms:modified xsi:type="dcterms:W3CDTF">2026-01-13T07:15:26Z</dcterms:modified>
</cp:coreProperties>
</file>